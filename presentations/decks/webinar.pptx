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68b5e036b4584" /><Relationship Type="http://schemas.openxmlformats.org/officeDocument/2006/relationships/extended-properties" Target="/docProps/app.xml" Id="R564aa0c22da647f7" /><Relationship Type="http://schemas.openxmlformats.org/officeDocument/2006/relationships/officeDocument" Target="/ppt/presentation.xml" Id="R9ceb367ab8414b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b140a424b4497"/>
  </p:sldMasterIdLst>
  <p:notesMasterIdLst>
    <p:notesMasterId xmlns:r="http://schemas.openxmlformats.org/officeDocument/2006/relationships" r:id="R6295f83240c04720"/>
  </p:notesMasterIdLst>
  <p:sldIdLst>
    <p:sldId xmlns:r="http://schemas.openxmlformats.org/officeDocument/2006/relationships" id="256" r:id="R3d5c9552f5a840d9"/>
    <p:sldId xmlns:r="http://schemas.openxmlformats.org/officeDocument/2006/relationships" id="257" r:id="Rfbf429f8b964414a"/>
    <p:sldId xmlns:r="http://schemas.openxmlformats.org/officeDocument/2006/relationships" id="258" r:id="Raeb2494c26224806"/>
    <p:sldId xmlns:r="http://schemas.openxmlformats.org/officeDocument/2006/relationships" id="259" r:id="Rf0fe921fdeb048b9"/>
    <p:sldId xmlns:r="http://schemas.openxmlformats.org/officeDocument/2006/relationships" id="260" r:id="Rb219be3b28a54bff"/>
    <p:sldId xmlns:r="http://schemas.openxmlformats.org/officeDocument/2006/relationships" id="261" r:id="Rd77e8bbcfb59428c"/>
    <p:sldId xmlns:r="http://schemas.openxmlformats.org/officeDocument/2006/relationships" id="262" r:id="R7f9120cc9e7d453b"/>
    <p:sldId xmlns:r="http://schemas.openxmlformats.org/officeDocument/2006/relationships" id="263" r:id="R9ef424eff7cc4e9c"/>
    <p:sldId xmlns:r="http://schemas.openxmlformats.org/officeDocument/2006/relationships" id="264" r:id="R8f4fe0b554af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caa46f3b64114" /><Relationship Type="http://schemas.openxmlformats.org/officeDocument/2006/relationships/slideMaster" Target="/ppt/slideMasters/slideMaster1.xml" Id="Rc3cb140a424b4497" /><Relationship Type="http://schemas.openxmlformats.org/officeDocument/2006/relationships/notesMaster" Target="/ppt/notesMasters/notesMaster1.xml" Id="R6295f83240c04720" /><Relationship Type="http://schemas.openxmlformats.org/officeDocument/2006/relationships/presProps" Target="/ppt/presProps.xml" Id="R01dd8e5efbee4b15" /><Relationship Type="http://schemas.openxmlformats.org/officeDocument/2006/relationships/tableStyles" Target="/ppt/tableStyles.xml" Id="R9d8d17c526224e47" /><Relationship Type="http://schemas.openxmlformats.org/officeDocument/2006/relationships/slide" Target="/ppt/slides/slide1.xml" Id="R3d5c9552f5a840d9" /><Relationship Type="http://schemas.openxmlformats.org/officeDocument/2006/relationships/slide" Target="/ppt/slides/slide2.xml" Id="Rfbf429f8b964414a" /><Relationship Type="http://schemas.openxmlformats.org/officeDocument/2006/relationships/slide" Target="/ppt/slides/slide3.xml" Id="Raeb2494c26224806" /><Relationship Type="http://schemas.openxmlformats.org/officeDocument/2006/relationships/slide" Target="/ppt/slides/slide4.xml" Id="Rf0fe921fdeb048b9" /><Relationship Type="http://schemas.openxmlformats.org/officeDocument/2006/relationships/slide" Target="/ppt/slides/slide5.xml" Id="Rb219be3b28a54bff" /><Relationship Type="http://schemas.openxmlformats.org/officeDocument/2006/relationships/slide" Target="/ppt/slides/slide6.xml" Id="Rd77e8bbcfb59428c" /><Relationship Type="http://schemas.openxmlformats.org/officeDocument/2006/relationships/slide" Target="/ppt/slides/slide7.xml" Id="R7f9120cc9e7d453b" /><Relationship Type="http://schemas.openxmlformats.org/officeDocument/2006/relationships/slide" Target="/ppt/slides/slide8.xml" Id="R9ef424eff7cc4e9c" /><Relationship Type="http://schemas.openxmlformats.org/officeDocument/2006/relationships/slide" Target="/ppt/slides/slide9.xml" Id="R8f4fe0b554af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f8f838cef44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56a70c6dbb4870" /><Relationship Type="http://schemas.openxmlformats.org/officeDocument/2006/relationships/notesMaster" Target="/ppt/notesMasters/notesMaster1.xml" Id="R76e588654d734a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918617b46e458b" /><Relationship Type="http://schemas.openxmlformats.org/officeDocument/2006/relationships/notesMaster" Target="/ppt/notesMasters/notesMaster1.xml" Id="Rb4bfe94a63cb44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8ae41c05ff44ec" /><Relationship Type="http://schemas.openxmlformats.org/officeDocument/2006/relationships/notesMaster" Target="/ppt/notesMasters/notesMaster1.xml" Id="Rfa43d42b7a4c4c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7a411417942e4" /><Relationship Type="http://schemas.openxmlformats.org/officeDocument/2006/relationships/notesMaster" Target="/ppt/notesMasters/notesMaster1.xml" Id="R47751ec242ab41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f3f62f572a4334" /><Relationship Type="http://schemas.openxmlformats.org/officeDocument/2006/relationships/notesMaster" Target="/ppt/notesMasters/notesMaster1.xml" Id="R4be160662e33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e647f2dc0e4d7b" /><Relationship Type="http://schemas.openxmlformats.org/officeDocument/2006/relationships/notesMaster" Target="/ppt/notesMasters/notesMaster1.xml" Id="R7e512a69361042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fea0c57e8e4f7a" /><Relationship Type="http://schemas.openxmlformats.org/officeDocument/2006/relationships/notesMaster" Target="/ppt/notesMasters/notesMaster1.xml" Id="Rb8c3e8dd91ae44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28175ce09d46e0" /><Relationship Type="http://schemas.openxmlformats.org/officeDocument/2006/relationships/notesMaster" Target="/ppt/notesMasters/notesMaster1.xml" Id="Re8356de13f3848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4574cd6eec4262" /><Relationship Type="http://schemas.openxmlformats.org/officeDocument/2006/relationships/notesMaster" Target="/ppt/notesMasters/notesMaster1.xml" Id="R5a44c533a8f6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hero visual: assets/hero.png (original prompt recorded in source-notes.txt).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audience-journey visual: assets/journey.png (original prompt recorded in source-notes.txt).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multi-format workstation visual: assets/formats.png (original prompt recorded in source-notes.txt).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closing portal visual: assets/portal.png (original prompt recorded in source-notes.txt).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2fd3c067a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a88d883cf84201" /><Relationship Type="http://schemas.openxmlformats.org/officeDocument/2006/relationships/slideLayout" Target="/ppt/slideLayouts/slideLayout1.xml" Id="R5179b7be08b8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9b7be08b8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6a0872f3644d4" /><Relationship Type="http://schemas.openxmlformats.org/officeDocument/2006/relationships/image" Target="/ppt/media/image.png" Id="R22c733aa46db4ada" /><Relationship Type="http://schemas.openxmlformats.org/officeDocument/2006/relationships/notesSlide" Target="/ppt/notesSlides/notesSlide1.xml" Id="R328a6f32005940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e92d31c6d4f34" /><Relationship Type="http://schemas.openxmlformats.org/officeDocument/2006/relationships/notesSlide" Target="/ppt/notesSlides/notesSlide2.xml" Id="Rb57bab8507f3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2551df4a94b69" /><Relationship Type="http://schemas.openxmlformats.org/officeDocument/2006/relationships/notesSlide" Target="/ppt/notesSlides/notesSlide3.xml" Id="Rabb7a89cb9a340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a1142381141fa" /><Relationship Type="http://schemas.openxmlformats.org/officeDocument/2006/relationships/image" Target="/ppt/media/image2.png" Id="R8fe5e9fda37f4958" /><Relationship Type="http://schemas.openxmlformats.org/officeDocument/2006/relationships/notesSlide" Target="/ppt/notesSlides/notesSlide4.xml" Id="R303ae7a235df4f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b7dd3008b4616" /><Relationship Type="http://schemas.openxmlformats.org/officeDocument/2006/relationships/notesSlide" Target="/ppt/notesSlides/notesSlide5.xml" Id="R2c4d4c297c1b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3ad7252104799" /><Relationship Type="http://schemas.openxmlformats.org/officeDocument/2006/relationships/image" Target="/ppt/media/image3.png" Id="Rb3701a329a504848" /><Relationship Type="http://schemas.openxmlformats.org/officeDocument/2006/relationships/notesSlide" Target="/ppt/notesSlides/notesSlide6.xml" Id="R134e2c8a020d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b430d8e3642ee" /><Relationship Type="http://schemas.openxmlformats.org/officeDocument/2006/relationships/notesSlide" Target="/ppt/notesSlides/notesSlide7.xml" Id="Rd5948969e7a7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14d7634704f49" /><Relationship Type="http://schemas.openxmlformats.org/officeDocument/2006/relationships/notesSlide" Target="/ppt/notesSlides/notesSlide8.xml" Id="Rbcfcc015ad644d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a7c6231cd4bdd" /><Relationship Type="http://schemas.openxmlformats.org/officeDocument/2006/relationships/image" Target="/ppt/media/image4.png" Id="R830893189202407e" /><Relationship Type="http://schemas.openxmlformats.org/officeDocument/2006/relationships/notesSlide" Target="/ppt/notesSlides/notesSlide9.xml" Id="R0a6a9fb98c3f4f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733aa46db4a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2663500-EDEE-4467-819B-5BFE5427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ВЕБИНАР • ПОРТФОЛИО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354D8912-E48C-468C-8CC9-A9AD64CF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4" name="hero-title">
            <a:extLst xmlns:a="http://schemas.openxmlformats.org/drawingml/2006/main">
              <a:ext uri="{FF2B5EF4-FFF2-40B4-BE49-F238E27FC236}">
                <a16:creationId xmlns:a16="http://schemas.microsoft.com/office/drawing/2014/main" id="{4033BC06-A13B-47DB-BDD2-C70985C3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Контент, который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ведёт к продаже</a:t>
            </a:r>
          </a:p>
        </p:txBody>
      </p:sp>
      <p:sp>
        <p:nvSpPr>
          <p:cNvPr id="5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685062A3-3A73-42D0-A01D-0FEC1185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8E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8D8E8"/>
                </a:solidFill>
                <a:latin typeface="Segoe UI"/>
                <a:ea typeface="Segoe UI"/>
                <a:cs typeface="Segoe UI"/>
              </a:rPr>
              <a:t>Система из пяти касаний: от узнавания проблемы</a:t>
            </a:r>
          </a:p>
          <a:p xmlns:a="http://schemas.openxmlformats.org/drawingml/2006/main">
            <a:pPr algn="l">
              <a:defRPr sz="1875" b="0">
                <a:solidFill>
                  <a:srgbClr val="D8D8E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D8D8E8"/>
                </a:solidFill>
                <a:latin typeface="Segoe UI"/>
                <a:ea typeface="Segoe UI"/>
                <a:cs typeface="Segoe UI"/>
              </a:rPr>
              <a:t>до понятного и своевременного предложения.</a:t>
            </a:r>
          </a:p>
        </p:txBody>
      </p:sp>
      <p:sp>
        <p:nvSpPr>
          <p:cNvPr id="6" name="hero-meta">
            <a:extLst xmlns:a="http://schemas.openxmlformats.org/drawingml/2006/main">
              <a:ext uri="{FF2B5EF4-FFF2-40B4-BE49-F238E27FC236}">
                <a16:creationId xmlns:a16="http://schemas.microsoft.com/office/drawing/2014/main" id="{2A986C9A-B2DF-4894-B5EA-D1ACB7D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A0B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9EA0B8"/>
                </a:solidFill>
                <a:latin typeface="Segoe UI"/>
                <a:ea typeface="Segoe UI"/>
                <a:cs typeface="Segoe UI"/>
              </a:rPr>
              <a:t>DEMO CASE  /  2026</a:t>
            </a:r>
          </a:p>
        </p:txBody>
      </p:sp>
    </p:spTree>
    <p:extLst>
      <p:ext uri="{BB962C8B-B14F-4D97-AF65-F5344CB8AC3E}">
        <p14:creationId xmlns:p14="http://schemas.microsoft.com/office/powerpoint/2010/main" val="1009320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0722CD4-A193-4C78-9EA2-F83E0175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55F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A855F7"/>
                </a:solidFill>
                <a:latin typeface="Segoe UI"/>
                <a:ea typeface="Segoe UI"/>
                <a:cs typeface="Segoe UI"/>
              </a:rPr>
              <a:t>01 / ПРОБЛЕМА</a:t>
            </a:r>
          </a:p>
        </p:txBody>
      </p:sp>
      <p:sp>
        <p:nvSpPr>
          <p:cNvPr id="2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FBCA1187-DACD-43A7-A94D-627F382C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3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F48AA12A-2FA7-4A23-BE47-7B640439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Хороший контент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может не продавать</a:t>
            </a:r>
          </a:p>
        </p:txBody>
      </p:sp>
      <p:sp>
        <p:nvSpPr>
          <p:cNvPr id="4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88F2DED4-D9BD-444A-9906-DC75D11B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8C9D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8C9D8"/>
                </a:solidFill>
                <a:latin typeface="Segoe UI"/>
                <a:ea typeface="Segoe UI"/>
                <a:cs typeface="Segoe UI"/>
              </a:rPr>
              <a:t>Не потому что он слабый — а потому что читатель не видит пути.</a:t>
            </a:r>
          </a:p>
        </p:txBody>
      </p:sp>
      <p:cxnSp>
        <p:nvCxnSpPr>
          <p:cNvPr id="20" name="problem-rule"/>
          <p:cNvCxnSpPr/>
          <p:nvPr/>
        </p:nvCxnSpPr>
        <p:spPr>
          <a:xfrm xmlns:a="http://schemas.openxmlformats.org/drawingml/2006/main">
            <a:off x="685800" y="3857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2D42"/>
            </a:solidFill>
            <a:prstDash val="solid"/>
          </a:ln>
        </p:spPr>
      </p:cxnSp>
      <p:sp>
        <p:nvSpPr>
          <p:cNvPr id="6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7EC4FD24-FF01-4185-B9EE-1829C4D0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55F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55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86FE6A85-9347-43E0-B278-D802195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Случайные темы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A509B99C-D78D-49D0-B489-F4BAD44B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Каждая публикация живёт отдельно.</a:t>
            </a:r>
          </a:p>
        </p:txBody>
      </p:sp>
      <p:sp>
        <p:nvSpPr>
          <p:cNvPr id="9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8EE8E4E4-6AF5-4F32-A5C4-F2B09BC6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85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4385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047EC16F-EDFC-4058-8FBE-BF8E482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Нет логики пути</a:t>
            </a:r>
          </a:p>
        </p:txBody>
      </p:sp>
      <p:sp>
        <p:nvSpPr>
          <p:cNvPr id="11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0841ABB2-6339-43DF-BF1A-7F05BE51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Интерес не превращается в доверие.</a:t>
            </a:r>
          </a:p>
        </p:txBody>
      </p:sp>
      <p:sp>
        <p:nvSpPr>
          <p:cNvPr id="12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6DC7B432-302E-415F-8FA5-187ACBF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7610A42B-81E1-42A4-AF00-0732A0F2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Оффер слишком рано</a:t>
            </a:r>
          </a:p>
        </p:txBody>
      </p:sp>
      <p:sp>
        <p:nvSpPr>
          <p:cNvPr id="14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F68DA3EE-60A3-47C9-AAE3-3F1A1E6D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Цена появляется раньше ценности.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732CFF7D-273D-44CC-B6EB-C960E8E5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4313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ramework-field">
            <a:extLst xmlns:a="http://schemas.openxmlformats.org/drawingml/2006/main">
              <a:ext uri="{FF2B5EF4-FFF2-40B4-BE49-F238E27FC236}">
                <a16:creationId xmlns:a16="http://schemas.microsoft.com/office/drawing/2014/main" id="{5FC892C3-B838-4F4B-B4FC-5F3D8639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ECE8FF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50B7EF6-5DBD-4EEE-9ACB-8FFA22F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55F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A855F7"/>
                </a:solidFill>
                <a:latin typeface="Segoe UI"/>
                <a:ea typeface="Segoe UI"/>
                <a:cs typeface="Segoe UI"/>
              </a:rPr>
              <a:t>02 / СИСТЕМА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08562D37-BFDF-498B-9996-67935929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4" name="framework-title">
            <a:extLst xmlns:a="http://schemas.openxmlformats.org/drawingml/2006/main">
              <a:ext uri="{FF2B5EF4-FFF2-40B4-BE49-F238E27FC236}">
                <a16:creationId xmlns:a16="http://schemas.microsoft.com/office/drawing/2014/main" id="{208D381D-A29C-43C7-969F-22BB6A59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Три роли сильного контента</a:t>
            </a:r>
          </a:p>
        </p:txBody>
      </p:sp>
      <p:sp>
        <p:nvSpPr>
          <p:cNvPr id="5" name="framework-subtitle">
            <a:extLst xmlns:a="http://schemas.openxmlformats.org/drawingml/2006/main">
              <a:ext uri="{FF2B5EF4-FFF2-40B4-BE49-F238E27FC236}">
                <a16:creationId xmlns:a16="http://schemas.microsoft.com/office/drawing/2014/main" id="{405E1A7F-B64D-4F8E-BD14-71E1C9FB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5F7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D5F71"/>
                </a:solidFill>
                <a:latin typeface="Segoe UI"/>
                <a:ea typeface="Segoe UI"/>
                <a:cs typeface="Segoe UI"/>
              </a:rPr>
              <a:t>Каждое касание делает только одну работу — поэтому история остаётся ясной.</a:t>
            </a:r>
          </a:p>
        </p:txBody>
      </p:sp>
      <p:sp>
        <p:nvSpPr>
          <p:cNvPr id="6" name="framework-circle-0">
            <a:extLst xmlns:a="http://schemas.openxmlformats.org/drawingml/2006/main">
              <a:ext uri="{FF2B5EF4-FFF2-40B4-BE49-F238E27FC236}">
                <a16:creationId xmlns:a16="http://schemas.microsoft.com/office/drawing/2014/main" id="{FB8A0912-B714-490D-851A-2F95101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9525">
            <a:solidFill>
              <a:srgbClr val="A855F7"/>
            </a:solidFill>
            <a:prstDash val="solid"/>
          </a:ln>
        </p:spPr>
      </p:sp>
      <p:sp>
        <p:nvSpPr>
          <p:cNvPr id="7" name="framework-num-0">
            <a:extLst xmlns:a="http://schemas.openxmlformats.org/drawingml/2006/main">
              <a:ext uri="{FF2B5EF4-FFF2-40B4-BE49-F238E27FC236}">
                <a16:creationId xmlns:a16="http://schemas.microsoft.com/office/drawing/2014/main" id="{B4FDD58B-3216-48BE-83D2-892EF2B1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framework-label-0">
            <a:extLst xmlns:a="http://schemas.openxmlformats.org/drawingml/2006/main">
              <a:ext uri="{FF2B5EF4-FFF2-40B4-BE49-F238E27FC236}">
                <a16:creationId xmlns:a16="http://schemas.microsoft.com/office/drawing/2014/main" id="{04034806-B92B-4ABF-A747-8C236C6D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Внимание</a:t>
            </a:r>
          </a:p>
        </p:txBody>
      </p:sp>
      <p:sp>
        <p:nvSpPr>
          <p:cNvPr id="9" name="framework-body-0">
            <a:extLst xmlns:a="http://schemas.openxmlformats.org/drawingml/2006/main">
              <a:ext uri="{FF2B5EF4-FFF2-40B4-BE49-F238E27FC236}">
                <a16:creationId xmlns:a16="http://schemas.microsoft.com/office/drawing/2014/main" id="{A9F6D837-9393-4F69-9AB6-25E1719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0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E6070"/>
                </a:solidFill>
                <a:latin typeface="Segoe UI"/>
                <a:ea typeface="Segoe UI"/>
                <a:cs typeface="Segoe UI"/>
              </a:rPr>
              <a:t>Помочь человеку</a:t>
            </a:r>
          </a:p>
          <a:p xmlns:a="http://schemas.openxmlformats.org/drawingml/2006/main">
            <a:pPr algn="l">
              <a:defRPr sz="1650" b="0">
                <a:solidFill>
                  <a:srgbClr val="5E60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E6070"/>
                </a:solidFill>
                <a:latin typeface="Segoe UI"/>
                <a:ea typeface="Segoe UI"/>
                <a:cs typeface="Segoe UI"/>
              </a:rPr>
              <a:t>узнать себя</a:t>
            </a:r>
          </a:p>
        </p:txBody>
      </p:sp>
      <p:sp>
        <p:nvSpPr>
          <p:cNvPr id="10" name="framework-circle-1">
            <a:extLst xmlns:a="http://schemas.openxmlformats.org/drawingml/2006/main">
              <a:ext uri="{FF2B5EF4-FFF2-40B4-BE49-F238E27FC236}">
                <a16:creationId xmlns:a16="http://schemas.microsoft.com/office/drawing/2014/main" id="{18A5CF5F-50AD-4499-973F-5FF6695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766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5FF"/>
          </a:solidFill>
          <a:ln xmlns:a="http://schemas.openxmlformats.org/drawingml/2006/main" w="9525">
            <a:solidFill>
              <a:srgbClr val="4385FF"/>
            </a:solidFill>
            <a:prstDash val="solid"/>
          </a:ln>
        </p:spPr>
      </p:sp>
      <p:sp>
        <p:nvSpPr>
          <p:cNvPr id="11" name="framework-num-1">
            <a:extLst xmlns:a="http://schemas.openxmlformats.org/drawingml/2006/main">
              <a:ext uri="{FF2B5EF4-FFF2-40B4-BE49-F238E27FC236}">
                <a16:creationId xmlns:a16="http://schemas.microsoft.com/office/drawing/2014/main" id="{98EBC556-5A57-4F6B-BA6F-AEE97B89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3377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2" name="framework-label-1">
            <a:extLst xmlns:a="http://schemas.openxmlformats.org/drawingml/2006/main">
              <a:ext uri="{FF2B5EF4-FFF2-40B4-BE49-F238E27FC236}">
                <a16:creationId xmlns:a16="http://schemas.microsoft.com/office/drawing/2014/main" id="{32F38F7D-7AF8-473B-BD8A-F8525E40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Доверие</a:t>
            </a:r>
          </a:p>
        </p:txBody>
      </p:sp>
      <p:sp>
        <p:nvSpPr>
          <p:cNvPr id="13" name="framework-body-1">
            <a:extLst xmlns:a="http://schemas.openxmlformats.org/drawingml/2006/main">
              <a:ext uri="{FF2B5EF4-FFF2-40B4-BE49-F238E27FC236}">
                <a16:creationId xmlns:a16="http://schemas.microsoft.com/office/drawing/2014/main" id="{CA778236-3674-48A1-90F4-5881720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53025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0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E6070"/>
                </a:solidFill>
                <a:latin typeface="Segoe UI"/>
                <a:ea typeface="Segoe UI"/>
                <a:cs typeface="Segoe UI"/>
              </a:rPr>
              <a:t>Показать логику</a:t>
            </a:r>
          </a:p>
          <a:p xmlns:a="http://schemas.openxmlformats.org/drawingml/2006/main">
            <a:pPr algn="l">
              <a:defRPr sz="1650" b="0">
                <a:solidFill>
                  <a:srgbClr val="5E60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E6070"/>
                </a:solidFill>
                <a:latin typeface="Segoe UI"/>
                <a:ea typeface="Segoe UI"/>
                <a:cs typeface="Segoe UI"/>
              </a:rPr>
              <a:t>и доказательства</a:t>
            </a:r>
          </a:p>
        </p:txBody>
      </p:sp>
      <p:sp>
        <p:nvSpPr>
          <p:cNvPr id="14" name="framework-circle-2">
            <a:extLst xmlns:a="http://schemas.openxmlformats.org/drawingml/2006/main">
              <a:ext uri="{FF2B5EF4-FFF2-40B4-BE49-F238E27FC236}">
                <a16:creationId xmlns:a16="http://schemas.microsoft.com/office/drawing/2014/main" id="{5246C29D-6A1E-433B-A783-3874C508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9525">
            <a:solidFill>
              <a:srgbClr val="FF6A55"/>
            </a:solidFill>
            <a:prstDash val="solid"/>
          </a:ln>
        </p:spPr>
      </p:sp>
      <p:sp>
        <p:nvSpPr>
          <p:cNvPr id="15" name="framework-num-2">
            <a:extLst xmlns:a="http://schemas.openxmlformats.org/drawingml/2006/main">
              <a:ext uri="{FF2B5EF4-FFF2-40B4-BE49-F238E27FC236}">
                <a16:creationId xmlns:a16="http://schemas.microsoft.com/office/drawing/2014/main" id="{AE7116CF-1E78-4C99-B32D-2110E1E9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33775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framework-label-2">
            <a:extLst xmlns:a="http://schemas.openxmlformats.org/drawingml/2006/main">
              <a:ext uri="{FF2B5EF4-FFF2-40B4-BE49-F238E27FC236}">
                <a16:creationId xmlns:a16="http://schemas.microsoft.com/office/drawing/2014/main" id="{55DDF3A1-83A8-4187-BA69-54D42A6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Действие</a:t>
            </a:r>
          </a:p>
        </p:txBody>
      </p:sp>
      <p:sp>
        <p:nvSpPr>
          <p:cNvPr id="17" name="framework-body-2">
            <a:extLst xmlns:a="http://schemas.openxmlformats.org/drawingml/2006/main">
              <a:ext uri="{FF2B5EF4-FFF2-40B4-BE49-F238E27FC236}">
                <a16:creationId xmlns:a16="http://schemas.microsoft.com/office/drawing/2014/main" id="{87D25835-FF31-42AF-A952-45DB49FF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53025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0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E6070"/>
                </a:solidFill>
                <a:latin typeface="Segoe UI"/>
                <a:ea typeface="Segoe UI"/>
                <a:cs typeface="Segoe UI"/>
              </a:rPr>
              <a:t>Предложить простой</a:t>
            </a:r>
          </a:p>
          <a:p xmlns:a="http://schemas.openxmlformats.org/drawingml/2006/main">
            <a:pPr algn="l">
              <a:defRPr sz="1650" b="0">
                <a:solidFill>
                  <a:srgbClr val="5E607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E6070"/>
                </a:solidFill>
                <a:latin typeface="Segoe UI"/>
                <a:ea typeface="Segoe UI"/>
                <a:cs typeface="Segoe UI"/>
              </a:rPr>
              <a:t>следующий шаг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FBDEAF7F-AAE2-4E7A-80FD-6C54C4E1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87A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687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19800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5e9fda37f495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E969556-CDA9-4BCD-93B1-43018271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9D9FF"/>
                </a:solidFill>
                <a:latin typeface="Segoe UI"/>
                <a:ea typeface="Segoe UI"/>
                <a:cs typeface="Segoe UI"/>
              </a:rPr>
              <a:t>03 / ПУТЬ АУДИТОРИИ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82BC0EE2-555A-4E4D-8A60-38E9C582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FF"/>
          </a:solidFill>
          <a:ln xmlns:a="http://schemas.openxmlformats.org/drawingml/2006/main" w="0">
            <a:solidFill>
              <a:srgbClr val="39D9FF"/>
            </a:solidFill>
            <a:prstDash val="solid"/>
          </a:ln>
        </p:spPr>
      </p:sp>
      <p:sp>
        <p:nvSpPr>
          <p:cNvPr id="4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30B4B591-CE68-48FB-8325-A2DEDCD4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От рассеянного внимания —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 осознанному действию</a:t>
            </a:r>
          </a:p>
        </p:txBody>
      </p:sp>
      <p:sp>
        <p:nvSpPr>
          <p:cNvPr id="5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8220710E-F059-4138-BF3B-CFF542A5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journey-index-0">
            <a:extLst xmlns:a="http://schemas.openxmlformats.org/drawingml/2006/main">
              <a:ext uri="{FF2B5EF4-FFF2-40B4-BE49-F238E27FC236}">
                <a16:creationId xmlns:a16="http://schemas.microsoft.com/office/drawing/2014/main" id="{178A7963-642E-48B1-85B8-3C7166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7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7B8F4CD4-0DF2-46E4-B20B-B0FB5504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УЗНАТЬ СЕБЯ</a:t>
            </a:r>
          </a:p>
        </p:txBody>
      </p:sp>
      <p:sp>
        <p:nvSpPr>
          <p:cNvPr id="8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DBDE82C8-66A0-42E5-B724-8111B16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5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journey-index-1">
            <a:extLst xmlns:a="http://schemas.openxmlformats.org/drawingml/2006/main">
              <a:ext uri="{FF2B5EF4-FFF2-40B4-BE49-F238E27FC236}">
                <a16:creationId xmlns:a16="http://schemas.microsoft.com/office/drawing/2014/main" id="{45FE4FD2-EB2A-4001-9E07-E67654B3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15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04A9BAA8-F1A6-4891-BCD6-0DD6F425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15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ПОНЯТЬ ПРИЧИНУ</a:t>
            </a:r>
          </a:p>
        </p:txBody>
      </p:sp>
      <p:sp>
        <p:nvSpPr>
          <p:cNvPr id="11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3601B677-294D-4F02-AF1E-4E530016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journey-index-2">
            <a:extLst xmlns:a="http://schemas.openxmlformats.org/drawingml/2006/main">
              <a:ext uri="{FF2B5EF4-FFF2-40B4-BE49-F238E27FC236}">
                <a16:creationId xmlns:a16="http://schemas.microsoft.com/office/drawing/2014/main" id="{D9DFF9D5-2D9D-469D-B3D6-643719CE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15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D0C3F0A3-2A44-4FA2-90AC-AE236CF5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615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УВИДЕТЬ РЕШЕНИЕ</a:t>
            </a:r>
          </a:p>
        </p:txBody>
      </p:sp>
      <p:sp>
        <p:nvSpPr>
          <p:cNvPr id="14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C8B7E8A2-8E91-4DD6-9D41-084670A8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57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E6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journey-index-3">
            <a:extLst xmlns:a="http://schemas.openxmlformats.org/drawingml/2006/main">
              <a:ext uri="{FF2B5EF4-FFF2-40B4-BE49-F238E27FC236}">
                <a16:creationId xmlns:a16="http://schemas.microsoft.com/office/drawing/2014/main" id="{45F77FFC-8613-40C7-A929-0A25B041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15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6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AC34B611-CF00-4C15-BC2B-4DD1FDE7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6153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СДЕЛАТЬ ШАГ</a:t>
            </a:r>
          </a:p>
        </p:txBody>
      </p:sp>
    </p:spTree>
    <p:extLst>
      <p:ext uri="{BB962C8B-B14F-4D97-AF65-F5344CB8AC3E}">
        <p14:creationId xmlns:p14="http://schemas.microsoft.com/office/powerpoint/2010/main" val="7541554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49E7305F-23E0-4F44-B95A-AFAB0A8B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04 / ЛОГИКА ОФФЕРА</a:t>
            </a:r>
          </a:p>
        </p:txBody>
      </p:sp>
      <p:sp>
        <p:nvSpPr>
          <p:cNvPr id="2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D645B55E-CF8C-4360-B5C7-73951F32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3" name="offer-title">
            <a:extLst xmlns:a="http://schemas.openxmlformats.org/drawingml/2006/main">
              <a:ext uri="{FF2B5EF4-FFF2-40B4-BE49-F238E27FC236}">
                <a16:creationId xmlns:a16="http://schemas.microsoft.com/office/drawing/2014/main" id="{483F118C-1F77-4D7E-95CF-7AEB23B6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Ценность должна появиться раньше цены</a:t>
            </a:r>
          </a:p>
        </p:txBody>
      </p:sp>
      <p:sp>
        <p:nvSpPr>
          <p:cNvPr id="4" name="offer-left">
            <a:extLst xmlns:a="http://schemas.openxmlformats.org/drawingml/2006/main">
              <a:ext uri="{FF2B5EF4-FFF2-40B4-BE49-F238E27FC236}">
                <a16:creationId xmlns:a16="http://schemas.microsoft.com/office/drawing/2014/main" id="{4C881972-E725-45C1-BE8E-96587B45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006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161824"/>
          </a:solidFill>
          <a:ln xmlns:a="http://schemas.openxmlformats.org/drawingml/2006/main" w="0">
            <a:solidFill>
              <a:srgbClr val="161824"/>
            </a:solidFill>
            <a:prstDash val="solid"/>
          </a:ln>
        </p:spPr>
      </p:sp>
      <p:sp>
        <p:nvSpPr>
          <p:cNvPr id="5" name="offer-right">
            <a:extLst xmlns:a="http://schemas.openxmlformats.org/drawingml/2006/main">
              <a:ext uri="{FF2B5EF4-FFF2-40B4-BE49-F238E27FC236}">
                <a16:creationId xmlns:a16="http://schemas.microsoft.com/office/drawing/2014/main" id="{56EF934C-3B85-431F-A7E7-23CF066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381250"/>
            <a:ext cx="55340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251332"/>
          </a:solidFill>
          <a:ln xmlns:a="http://schemas.openxmlformats.org/drawingml/2006/main" w="0">
            <a:solidFill>
              <a:srgbClr val="251332"/>
            </a:solidFill>
            <a:prstDash val="solid"/>
          </a:ln>
        </p:spPr>
      </p:sp>
      <p:sp>
        <p:nvSpPr>
          <p:cNvPr id="6" name="offer-left-kicker">
            <a:extLst xmlns:a="http://schemas.openxmlformats.org/drawingml/2006/main">
              <a:ext uri="{FF2B5EF4-FFF2-40B4-BE49-F238E27FC236}">
                <a16:creationId xmlns:a16="http://schemas.microsoft.com/office/drawing/2014/main" id="{645D73A2-7A9C-4BAD-87F5-717AE04E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8091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7D8091"/>
                </a:solidFill>
                <a:latin typeface="Segoe UI"/>
                <a:ea typeface="Segoe UI"/>
                <a:cs typeface="Segoe UI"/>
              </a:rPr>
              <a:t>НЕ РАБОТАЕТ</a:t>
            </a:r>
          </a:p>
        </p:txBody>
      </p:sp>
      <p:sp>
        <p:nvSpPr>
          <p:cNvPr id="7" name="offer-left-flow">
            <a:extLst xmlns:a="http://schemas.openxmlformats.org/drawingml/2006/main">
              <a:ext uri="{FF2B5EF4-FFF2-40B4-BE49-F238E27FC236}">
                <a16:creationId xmlns:a16="http://schemas.microsoft.com/office/drawing/2014/main" id="{7808FC60-137E-43A1-BE32-A76DCF87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7B8C5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B7B8C5"/>
                </a:solidFill>
                <a:latin typeface="Segoe UI"/>
                <a:ea typeface="Segoe UI"/>
                <a:cs typeface="Segoe UI"/>
              </a:rPr>
              <a:t>Пост  →  Цена</a:t>
            </a:r>
          </a:p>
        </p:txBody>
      </p:sp>
      <p:sp>
        <p:nvSpPr>
          <p:cNvPr id="8" name="offer-left-body">
            <a:extLst xmlns:a="http://schemas.openxmlformats.org/drawingml/2006/main">
              <a:ext uri="{FF2B5EF4-FFF2-40B4-BE49-F238E27FC236}">
                <a16:creationId xmlns:a16="http://schemas.microsoft.com/office/drawing/2014/main" id="{31D6FB98-8371-41C3-AF9F-BB99F35C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4869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848697"/>
                </a:solidFill>
                <a:latin typeface="Segoe UI"/>
                <a:ea typeface="Segoe UI"/>
                <a:cs typeface="Segoe UI"/>
              </a:rPr>
              <a:t>Читатель ещё не понял ценность,</a:t>
            </a:r>
          </a:p>
          <a:p xmlns:a="http://schemas.openxmlformats.org/drawingml/2006/main">
            <a:pPr algn="l">
              <a:defRPr sz="1650" b="0">
                <a:solidFill>
                  <a:srgbClr val="848697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848697"/>
                </a:solidFill>
                <a:latin typeface="Segoe UI"/>
                <a:ea typeface="Segoe UI"/>
                <a:cs typeface="Segoe UI"/>
              </a:rPr>
              <a:t>поэтому защищается от предложения.</a:t>
            </a:r>
          </a:p>
        </p:txBody>
      </p:sp>
      <p:sp>
        <p:nvSpPr>
          <p:cNvPr id="9" name="offer-right-kicker">
            <a:extLst xmlns:a="http://schemas.openxmlformats.org/drawingml/2006/main">
              <a:ext uri="{FF2B5EF4-FFF2-40B4-BE49-F238E27FC236}">
                <a16:creationId xmlns:a16="http://schemas.microsoft.com/office/drawing/2014/main" id="{2F7BACDA-6B20-4116-8F65-D6C775F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24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РАБОТАЕТ</a:t>
            </a:r>
          </a:p>
        </p:txBody>
      </p:sp>
      <p:sp>
        <p:nvSpPr>
          <p:cNvPr id="10" name="offer-right-flow">
            <a:extLst xmlns:a="http://schemas.openxmlformats.org/drawingml/2006/main">
              <a:ext uri="{FF2B5EF4-FFF2-40B4-BE49-F238E27FC236}">
                <a16:creationId xmlns:a16="http://schemas.microsoft.com/office/drawing/2014/main" id="{9AD650DC-2F4D-4719-8349-6243FFE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575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Проблема  →  Метод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→  Доказательство  →  Оффер</a:t>
            </a:r>
          </a:p>
        </p:txBody>
      </p:sp>
      <p:sp>
        <p:nvSpPr>
          <p:cNvPr id="11" name="offer-right-body">
            <a:extLst xmlns:a="http://schemas.openxmlformats.org/drawingml/2006/main">
              <a:ext uri="{FF2B5EF4-FFF2-40B4-BE49-F238E27FC236}">
                <a16:creationId xmlns:a16="http://schemas.microsoft.com/office/drawing/2014/main" id="{A3AE7357-E182-4699-8D23-272E0BA7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148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CBE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8CBE2"/>
                </a:solidFill>
                <a:latin typeface="Segoe UI"/>
                <a:ea typeface="Segoe UI"/>
                <a:cs typeface="Segoe UI"/>
              </a:rPr>
              <a:t>Предложение становится продолжением</a:t>
            </a:r>
          </a:p>
          <a:p xmlns:a="http://schemas.openxmlformats.org/drawingml/2006/main">
            <a:pPr algn="l">
              <a:defRPr sz="1650" b="0">
                <a:solidFill>
                  <a:srgbClr val="D8CBE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D8CBE2"/>
                </a:solidFill>
                <a:latin typeface="Segoe UI"/>
                <a:ea typeface="Segoe UI"/>
                <a:cs typeface="Segoe UI"/>
              </a:rPr>
              <a:t>истории, а не внезапной рекламой.</a:t>
            </a:r>
          </a:p>
        </p:txBody>
      </p:sp>
      <p:sp>
        <p:nvSpPr>
          <p:cNvPr id="12" name="offer-accent">
            <a:extLst xmlns:a="http://schemas.openxmlformats.org/drawingml/2006/main">
              <a:ext uri="{FF2B5EF4-FFF2-40B4-BE49-F238E27FC236}">
                <a16:creationId xmlns:a16="http://schemas.microsoft.com/office/drawing/2014/main" id="{2962F3D0-BF0D-450E-AA95-1F85BCC6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467350"/>
            <a:ext cx="1952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BDC0BE7-5D40-4227-BB48-DF2EB600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616022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01a329a5048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rmats-copy-field">
            <a:extLst xmlns:a="http://schemas.openxmlformats.org/drawingml/2006/main">
              <a:ext uri="{FF2B5EF4-FFF2-40B4-BE49-F238E27FC236}">
                <a16:creationId xmlns:a16="http://schemas.microsoft.com/office/drawing/2014/main" id="{F59F6E39-963C-4A90-B1E6-2156C5C5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3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14"/>
          </a:solidFill>
          <a:ln xmlns:a="http://schemas.openxmlformats.org/drawingml/2006/main" w="0">
            <a:solidFill>
              <a:srgbClr val="08091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671FBE0-F24E-43C8-9644-9C8C892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05 / МАСШТАБИРОВАНИЕ</a:t>
            </a:r>
          </a:p>
        </p:txBody>
      </p:sp>
      <p:sp>
        <p:nvSpPr>
          <p:cNvPr id="4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2EE3C95C-AC4E-41C1-96B9-FC76993B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5" name="formats-title">
            <a:extLst xmlns:a="http://schemas.openxmlformats.org/drawingml/2006/main">
              <a:ext uri="{FF2B5EF4-FFF2-40B4-BE49-F238E27FC236}">
                <a16:creationId xmlns:a16="http://schemas.microsoft.com/office/drawing/2014/main" id="{3C4B75FC-BA09-4AF8-9A2F-97BCFA8A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Одна идея.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 формата.</a:t>
            </a:r>
          </a:p>
        </p:txBody>
      </p:sp>
      <p:sp>
        <p:nvSpPr>
          <p:cNvPr id="6" name="formats-body">
            <a:extLst xmlns:a="http://schemas.openxmlformats.org/drawingml/2006/main">
              <a:ext uri="{FF2B5EF4-FFF2-40B4-BE49-F238E27FC236}">
                <a16:creationId xmlns:a16="http://schemas.microsoft.com/office/drawing/2014/main" id="{3B6C390B-ADB3-4730-B6B7-61A64CA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52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CAD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9CAD8"/>
                </a:solidFill>
                <a:latin typeface="Segoe UI"/>
                <a:ea typeface="Segoe UI"/>
                <a:cs typeface="Segoe UI"/>
              </a:rPr>
              <a:t>Сначала — сильная мысль.</a:t>
            </a:r>
          </a:p>
          <a:p xmlns:a="http://schemas.openxmlformats.org/drawingml/2006/main">
            <a:pPr algn="l">
              <a:defRPr sz="1875" b="0">
                <a:solidFill>
                  <a:srgbClr val="C9CAD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9CAD8"/>
                </a:solidFill>
                <a:latin typeface="Segoe UI"/>
                <a:ea typeface="Segoe UI"/>
                <a:cs typeface="Segoe UI"/>
              </a:rPr>
              <a:t>Затем адаптация под контекст,</a:t>
            </a:r>
          </a:p>
          <a:p xmlns:a="http://schemas.openxmlformats.org/drawingml/2006/main">
            <a:pPr algn="l">
              <a:defRPr sz="1875" b="0">
                <a:solidFill>
                  <a:srgbClr val="C9CAD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9CAD8"/>
                </a:solidFill>
                <a:latin typeface="Segoe UI"/>
                <a:ea typeface="Segoe UI"/>
                <a:cs typeface="Segoe UI"/>
              </a:rPr>
              <a:t>ритм и ожидание площадки.</a:t>
            </a:r>
          </a:p>
        </p:txBody>
      </p:sp>
      <p:sp>
        <p:nvSpPr>
          <p:cNvPr id="7" name="format-tag-0">
            <a:extLst xmlns:a="http://schemas.openxmlformats.org/drawingml/2006/main">
              <a:ext uri="{FF2B5EF4-FFF2-40B4-BE49-F238E27FC236}">
                <a16:creationId xmlns:a16="http://schemas.microsoft.com/office/drawing/2014/main" id="{F8042DB1-6EE8-44C9-9E92-14D32B9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8" name="format-label-0">
            <a:extLst xmlns:a="http://schemas.openxmlformats.org/drawingml/2006/main">
              <a:ext uri="{FF2B5EF4-FFF2-40B4-BE49-F238E27FC236}">
                <a16:creationId xmlns:a16="http://schemas.microsoft.com/office/drawing/2014/main" id="{EBADBCFF-6B13-4D1D-AFC1-8D9AD314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287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SHORTS</a:t>
            </a:r>
          </a:p>
        </p:txBody>
      </p:sp>
      <p:sp>
        <p:nvSpPr>
          <p:cNvPr id="9" name="format-tag-1">
            <a:extLst xmlns:a="http://schemas.openxmlformats.org/drawingml/2006/main">
              <a:ext uri="{FF2B5EF4-FFF2-40B4-BE49-F238E27FC236}">
                <a16:creationId xmlns:a16="http://schemas.microsoft.com/office/drawing/2014/main" id="{550AFC23-4C7D-44DA-A1F8-811171E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76575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85FF"/>
          </a:solidFill>
          <a:ln xmlns:a="http://schemas.openxmlformats.org/drawingml/2006/main" w="0">
            <a:solidFill>
              <a:srgbClr val="4385FF"/>
            </a:solidFill>
            <a:prstDash val="solid"/>
          </a:ln>
        </p:spPr>
      </p:sp>
      <p:sp>
        <p:nvSpPr>
          <p:cNvPr id="10" name="format-label-1">
            <a:extLst xmlns:a="http://schemas.openxmlformats.org/drawingml/2006/main">
              <a:ext uri="{FF2B5EF4-FFF2-40B4-BE49-F238E27FC236}">
                <a16:creationId xmlns:a16="http://schemas.microsoft.com/office/drawing/2014/main" id="{D49D115D-E45D-4576-92D3-8F403B6E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ПИСЬМО</a:t>
            </a:r>
          </a:p>
        </p:txBody>
      </p:sp>
      <p:sp>
        <p:nvSpPr>
          <p:cNvPr id="11" name="format-tag-2">
            <a:extLst xmlns:a="http://schemas.openxmlformats.org/drawingml/2006/main">
              <a:ext uri="{FF2B5EF4-FFF2-40B4-BE49-F238E27FC236}">
                <a16:creationId xmlns:a16="http://schemas.microsoft.com/office/drawing/2014/main" id="{0778A823-B6B0-48EA-A7AA-38478687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293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12" name="format-label-2">
            <a:extLst xmlns:a="http://schemas.openxmlformats.org/drawingml/2006/main">
              <a:ext uri="{FF2B5EF4-FFF2-40B4-BE49-F238E27FC236}">
                <a16:creationId xmlns:a16="http://schemas.microsoft.com/office/drawing/2014/main" id="{DD5F605F-EFC8-49C5-B4F0-9C34937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769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КАРУСЕЛЬ</a:t>
            </a:r>
          </a:p>
        </p:txBody>
      </p:sp>
      <p:sp>
        <p:nvSpPr>
          <p:cNvPr id="13" name="format-tag-3">
            <a:extLst xmlns:a="http://schemas.openxmlformats.org/drawingml/2006/main">
              <a:ext uri="{FF2B5EF4-FFF2-40B4-BE49-F238E27FC236}">
                <a16:creationId xmlns:a16="http://schemas.microsoft.com/office/drawing/2014/main" id="{C9F047B9-1A76-4982-9ABC-F88C4F9B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38800"/>
            <a:ext cx="1123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85FF"/>
          </a:solidFill>
          <a:ln xmlns:a="http://schemas.openxmlformats.org/drawingml/2006/main" w="0">
            <a:solidFill>
              <a:srgbClr val="4385FF"/>
            </a:solidFill>
            <a:prstDash val="solid"/>
          </a:ln>
        </p:spPr>
      </p:sp>
      <p:sp>
        <p:nvSpPr>
          <p:cNvPr id="14" name="format-label-3">
            <a:extLst xmlns:a="http://schemas.openxmlformats.org/drawingml/2006/main">
              <a:ext uri="{FF2B5EF4-FFF2-40B4-BE49-F238E27FC236}">
                <a16:creationId xmlns:a16="http://schemas.microsoft.com/office/drawing/2014/main" id="{975CDA61-80FA-4D92-AB31-9D76AAB6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864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ВЕБИНАР</a:t>
            </a:r>
          </a:p>
        </p:txBody>
      </p:sp>
    </p:spTree>
    <p:extLst>
      <p:ext uri="{BB962C8B-B14F-4D97-AF65-F5344CB8AC3E}">
        <p14:creationId xmlns:p14="http://schemas.microsoft.com/office/powerpoint/2010/main" val="830602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CD41E960-8F48-40FF-8733-7B3830A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55F7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A855F7"/>
                </a:solidFill>
                <a:latin typeface="Segoe UI"/>
                <a:ea typeface="Segoe UI"/>
                <a:cs typeface="Segoe UI"/>
              </a:rPr>
              <a:t>06 / ПЛАН НА 5 ДНЕЙ</a:t>
            </a:r>
          </a:p>
        </p:txBody>
      </p:sp>
      <p:sp>
        <p:nvSpPr>
          <p:cNvPr id="2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3F3EA549-1F4E-44B2-ACC9-901172C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A855F7"/>
            </a:solidFill>
            <a:prstDash val="solid"/>
          </a:ln>
        </p:spPr>
      </p:sp>
      <p:sp>
        <p:nvSpPr>
          <p:cNvPr id="3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C4F430B7-6ED1-4602-8A9A-A240FE9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Прогрев — это последовательность</a:t>
            </a:r>
          </a:p>
        </p:txBody>
      </p:sp>
      <p:sp>
        <p:nvSpPr>
          <p:cNvPr id="4" name="timeline-subtitle">
            <a:extLst xmlns:a="http://schemas.openxmlformats.org/drawingml/2006/main">
              <a:ext uri="{FF2B5EF4-FFF2-40B4-BE49-F238E27FC236}">
                <a16:creationId xmlns:a16="http://schemas.microsoft.com/office/drawing/2014/main" id="{8D7A7328-47DA-4E71-8847-E6B12B0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C0D0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FC0D0"/>
                </a:solidFill>
                <a:latin typeface="Segoe UI"/>
                <a:ea typeface="Segoe UI"/>
                <a:cs typeface="Segoe UI"/>
              </a:rPr>
              <a:t>Каждый день отвечает на новый вопрос аудитории.</a:t>
            </a:r>
          </a:p>
        </p:txBody>
      </p:sp>
      <p:cxnSp>
        <p:nvCxnSpPr>
          <p:cNvPr id="39" name="timeline-segment-0"/>
          <p:cNvCxnSpPr/>
          <p:nvPr/>
        </p:nvCxnSpPr>
        <p:spPr>
          <a:xfrm xmlns:a="http://schemas.openxmlformats.org/drawingml/2006/main">
            <a:off x="1200150" y="342900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7D66FF"/>
            </a:solidFill>
            <a:prstDash val="solid"/>
          </a:ln>
        </p:spPr>
      </p:cxnSp>
      <p:cxnSp>
        <p:nvCxnSpPr>
          <p:cNvPr id="40" name="timeline-segment-1"/>
          <p:cNvCxnSpPr/>
          <p:nvPr/>
        </p:nvCxnSpPr>
        <p:spPr>
          <a:xfrm xmlns:a="http://schemas.openxmlformats.org/drawingml/2006/main">
            <a:off x="3409950" y="342900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4385FF"/>
            </a:solidFill>
            <a:prstDash val="solid"/>
          </a:ln>
        </p:spPr>
      </p:cxnSp>
      <p:cxnSp>
        <p:nvCxnSpPr>
          <p:cNvPr id="41" name="timeline-segment-2"/>
          <p:cNvCxnSpPr/>
          <p:nvPr/>
        </p:nvCxnSpPr>
        <p:spPr>
          <a:xfrm xmlns:a="http://schemas.openxmlformats.org/drawingml/2006/main">
            <a:off x="5619750" y="342900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6A55"/>
            </a:solidFill>
            <a:prstDash val="solid"/>
          </a:ln>
        </p:spPr>
      </p:cxnSp>
      <p:cxnSp>
        <p:nvCxnSpPr>
          <p:cNvPr id="42" name="timeline-segment-3"/>
          <p:cNvCxnSpPr/>
          <p:nvPr/>
        </p:nvCxnSpPr>
        <p:spPr>
          <a:xfrm xmlns:a="http://schemas.openxmlformats.org/drawingml/2006/main">
            <a:off x="7829550" y="342900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>
            <a:solidFill>
              <a:srgbClr val="FFB266"/>
            </a:solidFill>
            <a:prstDash val="solid"/>
          </a:ln>
        </p:spPr>
      </p:cxnSp>
      <p:sp>
        <p:nvSpPr>
          <p:cNvPr id="9" name="timeline-node-0">
            <a:extLst xmlns:a="http://schemas.openxmlformats.org/drawingml/2006/main">
              <a:ext uri="{FF2B5EF4-FFF2-40B4-BE49-F238E27FC236}">
                <a16:creationId xmlns:a16="http://schemas.microsoft.com/office/drawing/2014/main" id="{C70C5007-4295-4B10-8623-1AE1CAE7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9525">
            <a:solidFill>
              <a:srgbClr val="A855F7"/>
            </a:solidFill>
            <a:prstDash val="solid"/>
          </a:ln>
        </p:spPr>
      </p:sp>
      <p:sp>
        <p:nvSpPr>
          <p:cNvPr id="10" name="timeline-index-0">
            <a:extLst xmlns:a="http://schemas.openxmlformats.org/drawingml/2006/main">
              <a:ext uri="{FF2B5EF4-FFF2-40B4-BE49-F238E27FC236}">
                <a16:creationId xmlns:a16="http://schemas.microsoft.com/office/drawing/2014/main" id="{B341D28F-7D46-4C03-B979-F97FF168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imeline-day-0">
            <a:extLst xmlns:a="http://schemas.openxmlformats.org/drawingml/2006/main">
              <a:ext uri="{FF2B5EF4-FFF2-40B4-BE49-F238E27FC236}">
                <a16:creationId xmlns:a16="http://schemas.microsoft.com/office/drawing/2014/main" id="{FF2056FC-578D-419C-86A1-884553B1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55F7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A855F7"/>
                </a:solidFill>
                <a:latin typeface="Segoe UI"/>
                <a:ea typeface="Segoe UI"/>
                <a:cs typeface="Segoe UI"/>
              </a:rPr>
              <a:t>ДЕНЬ 1</a:t>
            </a:r>
          </a:p>
        </p:txBody>
      </p:sp>
      <p:sp>
        <p:nvSpPr>
          <p:cNvPr id="12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7A980BE6-E6CB-4753-B222-73E6796C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Зеркало</a:t>
            </a:r>
          </a:p>
        </p:txBody>
      </p:sp>
      <p:sp>
        <p:nvSpPr>
          <p:cNvPr id="13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B24EBEF4-C61C-4ED4-B6A0-4280BB4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Узнать</a:t>
            </a:r>
          </a:p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себя</a:t>
            </a:r>
          </a:p>
        </p:txBody>
      </p:sp>
      <p:sp>
        <p:nvSpPr>
          <p:cNvPr id="14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86BC8313-8BBE-4966-8116-A01B9BD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6FF"/>
          </a:solidFill>
          <a:ln xmlns:a="http://schemas.openxmlformats.org/drawingml/2006/main" w="9525">
            <a:solidFill>
              <a:srgbClr val="7D66FF"/>
            </a:solidFill>
            <a:prstDash val="solid"/>
          </a:ln>
        </p:spPr>
      </p:sp>
      <p:sp>
        <p:nvSpPr>
          <p:cNvPr id="15" name="timeline-index-1">
            <a:extLst xmlns:a="http://schemas.openxmlformats.org/drawingml/2006/main">
              <a:ext uri="{FF2B5EF4-FFF2-40B4-BE49-F238E27FC236}">
                <a16:creationId xmlns:a16="http://schemas.microsoft.com/office/drawing/2014/main" id="{C52154D3-46A2-4EDD-97B5-70AFBF93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766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timeline-day-1">
            <a:extLst xmlns:a="http://schemas.openxmlformats.org/drawingml/2006/main">
              <a:ext uri="{FF2B5EF4-FFF2-40B4-BE49-F238E27FC236}">
                <a16:creationId xmlns:a16="http://schemas.microsoft.com/office/drawing/2014/main" id="{720BA111-F514-457C-8807-54AD5988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10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66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D66FF"/>
                </a:solidFill>
                <a:latin typeface="Segoe UI"/>
                <a:ea typeface="Segoe UI"/>
                <a:cs typeface="Segoe UI"/>
              </a:rPr>
              <a:t>ДЕНЬ 2</a:t>
            </a:r>
          </a:p>
        </p:txBody>
      </p:sp>
      <p:sp>
        <p:nvSpPr>
          <p:cNvPr id="1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99E8D90F-F0F2-4CC0-AC99-43DA5C72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Проблема</a:t>
            </a:r>
          </a:p>
        </p:txBody>
      </p:sp>
      <p:sp>
        <p:nvSpPr>
          <p:cNvPr id="18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2182D05A-6CDE-45E7-856C-C6D3BBDE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57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Увидеть</a:t>
            </a:r>
          </a:p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цену</a:t>
            </a:r>
          </a:p>
        </p:txBody>
      </p:sp>
      <p:sp>
        <p:nvSpPr>
          <p:cNvPr id="19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BF030B9A-A505-421D-B3A6-8E8D171B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5FF"/>
          </a:solidFill>
          <a:ln xmlns:a="http://schemas.openxmlformats.org/drawingml/2006/main" w="9525">
            <a:solidFill>
              <a:srgbClr val="4385FF"/>
            </a:solidFill>
            <a:prstDash val="solid"/>
          </a:ln>
        </p:spPr>
      </p:sp>
      <p:sp>
        <p:nvSpPr>
          <p:cNvPr id="20" name="timeline-index-2">
            <a:extLst xmlns:a="http://schemas.openxmlformats.org/drawingml/2006/main">
              <a:ext uri="{FF2B5EF4-FFF2-40B4-BE49-F238E27FC236}">
                <a16:creationId xmlns:a16="http://schemas.microsoft.com/office/drawing/2014/main" id="{2C899ABB-890E-4009-BB30-10C4263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766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timeline-day-2">
            <a:extLst xmlns:a="http://schemas.openxmlformats.org/drawingml/2006/main">
              <a:ext uri="{FF2B5EF4-FFF2-40B4-BE49-F238E27FC236}">
                <a16:creationId xmlns:a16="http://schemas.microsoft.com/office/drawing/2014/main" id="{9491CEC6-03B7-4F14-8B72-6EDAE0F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0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85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4385FF"/>
                </a:solidFill>
                <a:latin typeface="Segoe UI"/>
                <a:ea typeface="Segoe UI"/>
                <a:cs typeface="Segoe UI"/>
              </a:rPr>
              <a:t>ДЕНЬ 3</a:t>
            </a:r>
          </a:p>
        </p:txBody>
      </p:sp>
      <p:sp>
        <p:nvSpPr>
          <p:cNvPr id="22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919A32EE-50AA-410D-9571-FF61745E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Метод</a:t>
            </a:r>
          </a:p>
        </p:txBody>
      </p:sp>
      <p:sp>
        <p:nvSpPr>
          <p:cNvPr id="23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9CC80A5B-C140-493B-BEC3-412A2549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57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Понять</a:t>
            </a:r>
          </a:p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логику</a:t>
            </a:r>
          </a:p>
        </p:txBody>
      </p:sp>
      <p:sp>
        <p:nvSpPr>
          <p:cNvPr id="24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CB47AA1F-422B-4221-92C1-7BF44F2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9525">
            <a:solidFill>
              <a:srgbClr val="FF6A55"/>
            </a:solidFill>
            <a:prstDash val="solid"/>
          </a:ln>
        </p:spPr>
      </p:sp>
      <p:sp>
        <p:nvSpPr>
          <p:cNvPr id="25" name="timeline-index-3">
            <a:extLst xmlns:a="http://schemas.openxmlformats.org/drawingml/2006/main">
              <a:ext uri="{FF2B5EF4-FFF2-40B4-BE49-F238E27FC236}">
                <a16:creationId xmlns:a16="http://schemas.microsoft.com/office/drawing/2014/main" id="{9AC4C530-AE46-41D7-9E1E-1C907196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766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6" name="timeline-day-3">
            <a:extLst xmlns:a="http://schemas.openxmlformats.org/drawingml/2006/main">
              <a:ext uri="{FF2B5EF4-FFF2-40B4-BE49-F238E27FC236}">
                <a16:creationId xmlns:a16="http://schemas.microsoft.com/office/drawing/2014/main" id="{CC0264CB-BC11-425E-BD94-16BAB03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0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ДЕНЬ 4</a:t>
            </a:r>
          </a:p>
        </p:txBody>
      </p:sp>
      <p:sp>
        <p:nvSpPr>
          <p:cNvPr id="27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B7620CF9-13EA-4111-8178-C397D5D9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Доверие</a:t>
            </a:r>
          </a:p>
        </p:txBody>
      </p:sp>
      <p:sp>
        <p:nvSpPr>
          <p:cNvPr id="28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6DA235C2-467B-44E8-BB93-A59F2FF5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Увидеть</a:t>
            </a:r>
          </a:p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доказательство</a:t>
            </a:r>
          </a:p>
        </p:txBody>
      </p:sp>
      <p:sp>
        <p:nvSpPr>
          <p:cNvPr id="29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3CA25AB7-48CD-4A4B-9609-AFD8084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266"/>
          </a:solidFill>
          <a:ln xmlns:a="http://schemas.openxmlformats.org/drawingml/2006/main" w="9525">
            <a:solidFill>
              <a:srgbClr val="FFB266"/>
            </a:solidFill>
            <a:prstDash val="solid"/>
          </a:ln>
        </p:spPr>
      </p:sp>
      <p:sp>
        <p:nvSpPr>
          <p:cNvPr id="30" name="timeline-index-4">
            <a:extLst xmlns:a="http://schemas.openxmlformats.org/drawingml/2006/main">
              <a:ext uri="{FF2B5EF4-FFF2-40B4-BE49-F238E27FC236}">
                <a16:creationId xmlns:a16="http://schemas.microsoft.com/office/drawing/2014/main" id="{4498422F-DECA-4F1B-982B-093EAE7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766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1" name="timeline-day-4">
            <a:extLst xmlns:a="http://schemas.openxmlformats.org/drawingml/2006/main">
              <a:ext uri="{FF2B5EF4-FFF2-40B4-BE49-F238E27FC236}">
                <a16:creationId xmlns:a16="http://schemas.microsoft.com/office/drawing/2014/main" id="{EDF5D24E-BED3-4C45-A0B7-0474F93C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266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B266"/>
                </a:solidFill>
                <a:latin typeface="Segoe UI"/>
                <a:ea typeface="Segoe UI"/>
                <a:cs typeface="Segoe UI"/>
              </a:rPr>
              <a:t>ДЕНЬ 5</a:t>
            </a:r>
          </a:p>
        </p:txBody>
      </p:sp>
      <p:sp>
        <p:nvSpPr>
          <p:cNvPr id="32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0F6D65EF-F1B0-4C54-A919-D902EC7A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62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Оффер</a:t>
            </a:r>
          </a:p>
        </p:txBody>
      </p:sp>
      <p:sp>
        <p:nvSpPr>
          <p:cNvPr id="33" name="timeline-body-4">
            <a:extLst xmlns:a="http://schemas.openxmlformats.org/drawingml/2006/main">
              <a:ext uri="{FF2B5EF4-FFF2-40B4-BE49-F238E27FC236}">
                <a16:creationId xmlns:a16="http://schemas.microsoft.com/office/drawing/2014/main" id="{D0502FAB-C314-4E87-8748-0D5A29C5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57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Сделать</a:t>
            </a:r>
          </a:p>
          <a:p xmlns:a="http://schemas.openxmlformats.org/drawingml/2006/main">
            <a:pPr algn="l">
              <a:defRPr sz="1425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шаг</a:t>
            </a:r>
          </a:p>
        </p:txBody>
      </p:sp>
      <p:sp>
        <p:nvSpPr>
          <p:cNvPr id="34" name="page">
            <a:extLst xmlns:a="http://schemas.openxmlformats.org/drawingml/2006/main">
              <a:ext uri="{FF2B5EF4-FFF2-40B4-BE49-F238E27FC236}">
                <a16:creationId xmlns:a16="http://schemas.microsoft.com/office/drawing/2014/main" id="{DAB943E9-AC49-4F13-B534-3ED7AE3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7A8B6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A7A8B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8975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715D76D7-D67B-4F39-90A3-99D4469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07 / ФИНАЛЬНАЯ ПРОВЕРКА</a:t>
            </a:r>
          </a:p>
        </p:txBody>
      </p:sp>
      <p:sp>
        <p:nvSpPr>
          <p:cNvPr id="2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6CE8D9D6-F601-4A07-B618-4D6AF202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3" name="checklist-number">
            <a:extLst xmlns:a="http://schemas.openxmlformats.org/drawingml/2006/main">
              <a:ext uri="{FF2B5EF4-FFF2-40B4-BE49-F238E27FC236}">
                <a16:creationId xmlns:a16="http://schemas.microsoft.com/office/drawing/2014/main" id="{322C6E7D-91E8-4448-9366-D11B4EB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762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0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1250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checklist-title">
            <a:extLst xmlns:a="http://schemas.openxmlformats.org/drawingml/2006/main">
              <a:ext uri="{FF2B5EF4-FFF2-40B4-BE49-F238E27FC236}">
                <a16:creationId xmlns:a16="http://schemas.microsoft.com/office/drawing/2014/main" id="{D7E07E56-FCC7-4DB5-9CF9-319918FF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вопросов перед</a:t>
            </a:r>
          </a:p>
          <a:p xmlns:a="http://schemas.openxmlformats.org/drawingml/2006/main">
            <a:pPr algn="l">
              <a:defRPr sz="322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публикацией</a:t>
            </a:r>
          </a:p>
        </p:txBody>
      </p:sp>
      <p:sp>
        <p:nvSpPr>
          <p:cNvPr id="5" name="checklist-subtitle">
            <a:extLst xmlns:a="http://schemas.openxmlformats.org/drawingml/2006/main">
              <a:ext uri="{FF2B5EF4-FFF2-40B4-BE49-F238E27FC236}">
                <a16:creationId xmlns:a16="http://schemas.microsoft.com/office/drawing/2014/main" id="{BA0AC94C-5579-4BED-AA87-CE430EA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87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66879"/>
                </a:solidFill>
                <a:latin typeface="Segoe UI"/>
                <a:ea typeface="Segoe UI"/>
                <a:cs typeface="Segoe UI"/>
              </a:rPr>
              <a:t>Если ответы неочевидны —</a:t>
            </a:r>
          </a:p>
          <a:p xmlns:a="http://schemas.openxmlformats.org/drawingml/2006/main">
            <a:pPr algn="l">
              <a:defRPr sz="1725" b="0">
                <a:solidFill>
                  <a:srgbClr val="666879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66879"/>
                </a:solidFill>
                <a:latin typeface="Segoe UI"/>
                <a:ea typeface="Segoe UI"/>
                <a:cs typeface="Segoe UI"/>
              </a:rPr>
              <a:t>слайд ещё не готов.</a:t>
            </a:r>
          </a:p>
        </p:txBody>
      </p:sp>
      <p:cxnSp>
        <p:nvCxnSpPr>
          <p:cNvPr id="32" name="check-rule-0"/>
          <p:cNvCxnSpPr/>
          <p:nvPr/>
        </p:nvCxnSpPr>
        <p:spPr>
          <a:xfrm xmlns:a="http://schemas.openxmlformats.org/drawingml/2006/main">
            <a:off x="4933950" y="190500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AD7E8"/>
            </a:solidFill>
            <a:prstDash val="solid"/>
          </a:ln>
        </p:spPr>
      </p:cxnSp>
      <p:sp>
        <p:nvSpPr>
          <p:cNvPr id="7" name="check-circle-0">
            <a:extLst xmlns:a="http://schemas.openxmlformats.org/drawingml/2006/main">
              <a:ext uri="{FF2B5EF4-FFF2-40B4-BE49-F238E27FC236}">
                <a16:creationId xmlns:a16="http://schemas.microsoft.com/office/drawing/2014/main" id="{0C0B4A4F-F7DD-4704-AB2E-9692D816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40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check-index-0">
            <a:extLst xmlns:a="http://schemas.openxmlformats.org/drawingml/2006/main">
              <a:ext uri="{FF2B5EF4-FFF2-40B4-BE49-F238E27FC236}">
                <a16:creationId xmlns:a16="http://schemas.microsoft.com/office/drawing/2014/main" id="{A2370A8E-B112-4BD6-AD72-FF2BC3F8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04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check-text-0">
            <a:extLst xmlns:a="http://schemas.openxmlformats.org/drawingml/2006/main">
              <a:ext uri="{FF2B5EF4-FFF2-40B4-BE49-F238E27FC236}">
                <a16:creationId xmlns:a16="http://schemas.microsoft.com/office/drawing/2014/main" id="{21225794-9A30-48F6-82D6-CAD195EF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382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Понятен ли первый экран?</a:t>
            </a:r>
          </a:p>
        </p:txBody>
      </p:sp>
      <p:cxnSp>
        <p:nvCxnSpPr>
          <p:cNvPr id="36" name="check-rule-1"/>
          <p:cNvCxnSpPr/>
          <p:nvPr/>
        </p:nvCxnSpPr>
        <p:spPr>
          <a:xfrm xmlns:a="http://schemas.openxmlformats.org/drawingml/2006/main">
            <a:off x="4933950" y="281940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AD7E8"/>
            </a:solidFill>
            <a:prstDash val="solid"/>
          </a:ln>
        </p:spPr>
      </p:cxnSp>
      <p:sp>
        <p:nvSpPr>
          <p:cNvPr id="11" name="check-circle-1">
            <a:extLst xmlns:a="http://schemas.openxmlformats.org/drawingml/2006/main">
              <a:ext uri="{FF2B5EF4-FFF2-40B4-BE49-F238E27FC236}">
                <a16:creationId xmlns:a16="http://schemas.microsoft.com/office/drawing/2014/main" id="{4E3D23C6-BF9A-47CC-B2CF-5FE5FE5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85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check-index-1">
            <a:extLst xmlns:a="http://schemas.openxmlformats.org/drawingml/2006/main">
              <a:ext uri="{FF2B5EF4-FFF2-40B4-BE49-F238E27FC236}">
                <a16:creationId xmlns:a16="http://schemas.microsoft.com/office/drawing/2014/main" id="{F2C3DEF4-121F-4DCC-AB21-0298012E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3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35CCAA37-4711-4E8C-AF73-C3446DD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Есть ли конкретная польза?</a:t>
            </a:r>
          </a:p>
        </p:txBody>
      </p:sp>
      <p:cxnSp>
        <p:nvCxnSpPr>
          <p:cNvPr id="40" name="check-rule-2"/>
          <p:cNvCxnSpPr/>
          <p:nvPr/>
        </p:nvCxnSpPr>
        <p:spPr>
          <a:xfrm xmlns:a="http://schemas.openxmlformats.org/drawingml/2006/main">
            <a:off x="4933950" y="373380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AD7E8"/>
            </a:solidFill>
            <a:prstDash val="solid"/>
          </a:ln>
        </p:spPr>
      </p:cxnSp>
      <p:sp>
        <p:nvSpPr>
          <p:cNvPr id="15" name="check-circle-2">
            <a:extLst xmlns:a="http://schemas.openxmlformats.org/drawingml/2006/main">
              <a:ext uri="{FF2B5EF4-FFF2-40B4-BE49-F238E27FC236}">
                <a16:creationId xmlns:a16="http://schemas.microsoft.com/office/drawing/2014/main" id="{EA38ACAC-893E-47E1-AABF-10AC199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38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check-index-2">
            <a:extLst xmlns:a="http://schemas.openxmlformats.org/drawingml/2006/main">
              <a:ext uri="{FF2B5EF4-FFF2-40B4-BE49-F238E27FC236}">
                <a16:creationId xmlns:a16="http://schemas.microsoft.com/office/drawing/2014/main" id="{9B8A55BF-E808-4E7E-92B1-678C401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7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C7ACC1AD-DA73-4C85-8172-F233702A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670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Доказана ли главная мысль?</a:t>
            </a:r>
          </a:p>
        </p:txBody>
      </p:sp>
      <p:cxnSp>
        <p:nvCxnSpPr>
          <p:cNvPr id="44" name="check-rule-3"/>
          <p:cNvCxnSpPr/>
          <p:nvPr/>
        </p:nvCxnSpPr>
        <p:spPr>
          <a:xfrm xmlns:a="http://schemas.openxmlformats.org/drawingml/2006/main">
            <a:off x="4933950" y="464820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AD7E8"/>
            </a:solidFill>
            <a:prstDash val="solid"/>
          </a:ln>
        </p:spPr>
      </p:cxnSp>
      <p:sp>
        <p:nvSpPr>
          <p:cNvPr id="19" name="check-circle-3">
            <a:extLst xmlns:a="http://schemas.openxmlformats.org/drawingml/2006/main">
              <a:ext uri="{FF2B5EF4-FFF2-40B4-BE49-F238E27FC236}">
                <a16:creationId xmlns:a16="http://schemas.microsoft.com/office/drawing/2014/main" id="{8BF985F2-6019-4791-8E62-38F9F30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52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C7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check-index-3">
            <a:extLst xmlns:a="http://schemas.openxmlformats.org/drawingml/2006/main">
              <a:ext uri="{FF2B5EF4-FFF2-40B4-BE49-F238E27FC236}">
                <a16:creationId xmlns:a16="http://schemas.microsoft.com/office/drawing/2014/main" id="{179FC337-A1DC-41B1-8733-21C5494F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48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1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92313BC1-AC9A-46D9-B3BA-4FF27B9A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814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Снят ли главный страх?</a:t>
            </a:r>
          </a:p>
        </p:txBody>
      </p:sp>
      <p:cxnSp>
        <p:nvCxnSpPr>
          <p:cNvPr id="48" name="check-rule-4"/>
          <p:cNvCxnSpPr/>
          <p:nvPr/>
        </p:nvCxnSpPr>
        <p:spPr>
          <a:xfrm xmlns:a="http://schemas.openxmlformats.org/drawingml/2006/main">
            <a:off x="4933950" y="556260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AD7E8"/>
            </a:solidFill>
            <a:prstDash val="solid"/>
          </a:ln>
        </p:spPr>
      </p:cxnSp>
      <p:sp>
        <p:nvSpPr>
          <p:cNvPr id="23" name="check-circle-4">
            <a:extLst xmlns:a="http://schemas.openxmlformats.org/drawingml/2006/main">
              <a:ext uri="{FF2B5EF4-FFF2-40B4-BE49-F238E27FC236}">
                <a16:creationId xmlns:a16="http://schemas.microsoft.com/office/drawing/2014/main" id="{AECAE33B-DAEE-469D-AA91-07337CAA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67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26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check-index-4">
            <a:extLst xmlns:a="http://schemas.openxmlformats.org/drawingml/2006/main">
              <a:ext uri="{FF2B5EF4-FFF2-40B4-BE49-F238E27FC236}">
                <a16:creationId xmlns:a16="http://schemas.microsoft.com/office/drawing/2014/main" id="{DFBCDCCA-A001-4E95-9741-AA63BFB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625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5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C2601AEC-73FB-4432-A3C7-A116C97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958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32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1322"/>
                </a:solidFill>
                <a:latin typeface="Segoe UI"/>
                <a:ea typeface="Segoe UI"/>
                <a:cs typeface="Segoe UI"/>
              </a:rPr>
              <a:t>Ясен ли следующий шаг?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6FA01531-93AF-4C4C-9D9C-66A66317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879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66687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8064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89318920240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6DE5B5C-5771-4882-939D-04AB4737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5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6A55"/>
                </a:solidFill>
                <a:latin typeface="Segoe UI"/>
                <a:ea typeface="Segoe UI"/>
                <a:cs typeface="Segoe UI"/>
              </a:rPr>
              <a:t>ФИНАЛ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1CDD546A-6442-4FF7-85FD-06D607A6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C3A480F-48C0-44F5-A92A-A1E906BC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Один слайд.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Одна мысль.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Один следующий шаг.</a:t>
            </a:r>
          </a:p>
        </p:txBody>
      </p:sp>
      <p:sp>
        <p:nvSpPr>
          <p:cNvPr id="5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9FD92AA4-60F9-4165-84BA-0AEDFC9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0D1D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0D1DF"/>
                </a:solidFill>
                <a:latin typeface="Segoe UI"/>
                <a:ea typeface="Segoe UI"/>
                <a:cs typeface="Segoe UI"/>
              </a:rPr>
              <a:t>Сильная презентация не украшает сложность —</a:t>
            </a:r>
          </a:p>
          <a:p xmlns:a="http://schemas.openxmlformats.org/drawingml/2006/main">
            <a:pPr algn="l">
              <a:defRPr sz="1800" b="0">
                <a:solidFill>
                  <a:srgbClr val="D0D1D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0D1DF"/>
                </a:solidFill>
                <a:latin typeface="Segoe UI"/>
                <a:ea typeface="Segoe UI"/>
                <a:cs typeface="Segoe UI"/>
              </a:rPr>
              <a:t>она делает решение очевидным.</a:t>
            </a:r>
          </a:p>
        </p:txBody>
      </p:sp>
      <p:sp>
        <p:nvSpPr>
          <p:cNvPr id="6" name="closing-cta">
            <a:extLst xmlns:a="http://schemas.openxmlformats.org/drawingml/2006/main">
              <a:ext uri="{FF2B5EF4-FFF2-40B4-BE49-F238E27FC236}">
                <a16:creationId xmlns:a16="http://schemas.microsoft.com/office/drawing/2014/main" id="{AAD94F74-DB36-4610-B426-56E2A85F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A55"/>
          </a:solidFill>
          <a:ln xmlns:a="http://schemas.openxmlformats.org/drawingml/2006/main" w="0">
            <a:solidFill>
              <a:srgbClr val="FF6A55"/>
            </a:solidFill>
            <a:prstDash val="solid"/>
          </a:ln>
        </p:spPr>
      </p:sp>
      <p:sp>
        <p:nvSpPr>
          <p:cNvPr id="7" name="closing-cta-label">
            <a:extLst xmlns:a="http://schemas.openxmlformats.org/drawingml/2006/main">
              <a:ext uri="{FF2B5EF4-FFF2-40B4-BE49-F238E27FC236}">
                <a16:creationId xmlns:a16="http://schemas.microsoft.com/office/drawing/2014/main" id="{B48258BA-05D2-4895-9200-21D08A1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ГОТОВО К ПОКАЗУ</a:t>
            </a:r>
          </a:p>
        </p:txBody>
      </p:sp>
    </p:spTree>
    <p:extLst>
      <p:ext uri="{BB962C8B-B14F-4D97-AF65-F5344CB8AC3E}">
        <p14:creationId xmlns:p14="http://schemas.microsoft.com/office/powerpoint/2010/main" val="1626201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2026-08-01T19:46:11.8450000Z</dcterms:created>
  <dcterms:modified xsi:type="dcterms:W3CDTF">2026-08-01T19:46:11.8450000Z</dcterms:modified>
</coreProperties>
</file>